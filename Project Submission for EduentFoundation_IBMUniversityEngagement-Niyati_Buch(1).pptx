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1" roundtripDataSignature="AMtx7mjByDNbVweLY6nQ01YlDePWQVH2R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BFF410A-B9F6-41A5-8227-076263616BD0}">
  <a:tblStyle styleId="{9BFF410A-B9F6-41A5-8227-076263616BD0}"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21"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6" name="Google Shape;76;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1" name="Google Shape;91;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7" name="Google Shape;97;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3" name="Google Shape;103;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9" name="Google Shape;109;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1" name="Google Shape;121;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7" name="Google Shape;127;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3" name="Google Shape;133;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9" name="Google Shape;139;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5" name="Google Shape;145;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1" name="Google Shape;151;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7" name="Google Shape;157;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3" name="Google Shape;163;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9" name="Google Shape;169;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 name="Shape 11"/>
        <p:cNvGrpSpPr/>
        <p:nvPr/>
      </p:nvGrpSpPr>
      <p:grpSpPr>
        <a:xfrm>
          <a:off x="0" y="0"/>
          <a:ext cx="0" cy="0"/>
          <a:chOff x="0" y="0"/>
          <a:chExt cx="0" cy="0"/>
        </a:xfrm>
      </p:grpSpPr>
      <p:sp>
        <p:nvSpPr>
          <p:cNvPr id="12" name="Google Shape;12;p2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4" name="Google Shape;14;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3" name="Shape 23"/>
        <p:cNvGrpSpPr/>
        <p:nvPr/>
      </p:nvGrpSpPr>
      <p:grpSpPr>
        <a:xfrm>
          <a:off x="0" y="0"/>
          <a:ext cx="0" cy="0"/>
          <a:chOff x="0" y="0"/>
          <a:chExt cx="0" cy="0"/>
        </a:xfrm>
      </p:grpSpPr>
      <p:sp>
        <p:nvSpPr>
          <p:cNvPr id="24" name="Google Shape;24;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2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0" name="Shape 30"/>
        <p:cNvGrpSpPr/>
        <p:nvPr/>
      </p:nvGrpSpPr>
      <p:grpSpPr>
        <a:xfrm>
          <a:off x="0" y="0"/>
          <a:ext cx="0" cy="0"/>
          <a:chOff x="0" y="0"/>
          <a:chExt cx="0" cy="0"/>
        </a:xfrm>
      </p:grpSpPr>
      <p:sp>
        <p:nvSpPr>
          <p:cNvPr id="31" name="Google Shape;31;p2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3" name="Google Shape;33;p2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2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5" name="Google Shape;35;p2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4" name="Shape 44"/>
        <p:cNvGrpSpPr/>
        <p:nvPr/>
      </p:nvGrpSpPr>
      <p:grpSpPr>
        <a:xfrm>
          <a:off x="0" y="0"/>
          <a:ext cx="0" cy="0"/>
          <a:chOff x="0" y="0"/>
          <a:chExt cx="0" cy="0"/>
        </a:xfrm>
      </p:grpSpPr>
      <p:sp>
        <p:nvSpPr>
          <p:cNvPr id="45" name="Google Shape;45;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8" name="Shape 48"/>
        <p:cNvGrpSpPr/>
        <p:nvPr/>
      </p:nvGrpSpPr>
      <p:grpSpPr>
        <a:xfrm>
          <a:off x="0" y="0"/>
          <a:ext cx="0" cy="0"/>
          <a:chOff x="0" y="0"/>
          <a:chExt cx="0" cy="0"/>
        </a:xfrm>
      </p:grpSpPr>
      <p:sp>
        <p:nvSpPr>
          <p:cNvPr id="49" name="Google Shape;49;p2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2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1" name="Google Shape;51;p2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2" name="Google Shape;52;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5" name="Shape 55"/>
        <p:cNvGrpSpPr/>
        <p:nvPr/>
      </p:nvGrpSpPr>
      <p:grpSpPr>
        <a:xfrm>
          <a:off x="0" y="0"/>
          <a:ext cx="0" cy="0"/>
          <a:chOff x="0" y="0"/>
          <a:chExt cx="0" cy="0"/>
        </a:xfrm>
      </p:grpSpPr>
      <p:sp>
        <p:nvSpPr>
          <p:cNvPr id="56" name="Google Shape;56;p3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0"/>
          <p:cNvSpPr/>
          <p:nvPr>
            <p:ph idx="2" type="pic"/>
          </p:nvPr>
        </p:nvSpPr>
        <p:spPr>
          <a:xfrm>
            <a:off x="5183188" y="987425"/>
            <a:ext cx="6172200" cy="4873625"/>
          </a:xfrm>
          <a:prstGeom prst="rect">
            <a:avLst/>
          </a:prstGeom>
          <a:noFill/>
          <a:ln>
            <a:noFill/>
          </a:ln>
        </p:spPr>
      </p:sp>
      <p:sp>
        <p:nvSpPr>
          <p:cNvPr id="58" name="Google Shape;58;p3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9" name="Google Shape;59;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2" name="Shape 62"/>
        <p:cNvGrpSpPr/>
        <p:nvPr/>
      </p:nvGrpSpPr>
      <p:grpSpPr>
        <a:xfrm>
          <a:off x="0" y="0"/>
          <a:ext cx="0" cy="0"/>
          <a:chOff x="0" y="0"/>
          <a:chExt cx="0" cy="0"/>
        </a:xfrm>
      </p:grpSpPr>
      <p:sp>
        <p:nvSpPr>
          <p:cNvPr id="63" name="Google Shape;63;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8" name="Shape 68"/>
        <p:cNvGrpSpPr/>
        <p:nvPr/>
      </p:nvGrpSpPr>
      <p:grpSpPr>
        <a:xfrm>
          <a:off x="0" y="0"/>
          <a:ext cx="0" cy="0"/>
          <a:chOff x="0" y="0"/>
          <a:chExt cx="0" cy="0"/>
        </a:xfrm>
      </p:grpSpPr>
      <p:sp>
        <p:nvSpPr>
          <p:cNvPr id="69" name="Google Shape;69;p3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3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SzPts val="6000"/>
              <a:buNone/>
            </a:pPr>
            <a:r>
              <a:rPr b="1" lang="en-US" sz="6600"/>
              <a:t>IBM University Engagement Project Submission</a:t>
            </a:r>
            <a:br>
              <a:rPr b="1" lang="en-US"/>
            </a:br>
            <a:endParaRPr/>
          </a:p>
        </p:txBody>
      </p:sp>
      <p:sp>
        <p:nvSpPr>
          <p:cNvPr id="79" name="Google Shape;79;p33"/>
          <p:cNvSpPr txBox="1"/>
          <p:nvPr>
            <p:ph idx="1" type="body"/>
          </p:nvPr>
        </p:nvSpPr>
        <p:spPr>
          <a:xfrm>
            <a:off x="1014730" y="3903663"/>
            <a:ext cx="10515600" cy="1500187"/>
          </a:xfrm>
          <a:prstGeom prst="rect">
            <a:avLst/>
          </a:prstGeom>
          <a:noFill/>
          <a:ln>
            <a:noFill/>
          </a:ln>
        </p:spPr>
        <p:txBody>
          <a:bodyPr anchorCtr="0" anchor="t" bIns="45700" lIns="91425" spcFirstLastPara="1" rIns="91425" wrap="square" tIns="45700">
            <a:normAutofit/>
          </a:bodyPr>
          <a:lstStyle/>
          <a:p>
            <a:pPr indent="-228600" lvl="0" marL="457200" rtl="0" algn="ctr">
              <a:lnSpc>
                <a:spcPct val="90000"/>
              </a:lnSpc>
              <a:spcBef>
                <a:spcPts val="1000"/>
              </a:spcBef>
              <a:spcAft>
                <a:spcPts val="0"/>
              </a:spcAft>
              <a:buSzPts val="2400"/>
              <a:buNone/>
            </a:pPr>
            <a:r>
              <a:rPr b="1" i="1" lang="en-US"/>
              <a:t>“Exploring the Power of Agentic AI with IBM Granite and LangFlow”</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chemeClr val="dk1"/>
              </a:buClr>
              <a:buSzPts val="1500"/>
              <a:buFont typeface="Calibri"/>
              <a:buNone/>
            </a:pPr>
            <a:r>
              <a:t/>
            </a:r>
            <a:endParaRPr b="0" i="0" sz="1500" u="none" cap="none" strike="noStrik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2060"/>
              </a:buClr>
              <a:buSzPts val="3200"/>
              <a:buFont typeface="Times New Roman"/>
              <a:buNone/>
            </a:pPr>
            <a:r>
              <a:t/>
            </a:r>
            <a:endParaRPr b="1" i="0" sz="3200" u="none" cap="none" strike="noStrike">
              <a:solidFill>
                <a:srgbClr val="002060"/>
              </a:solidFill>
              <a:latin typeface="Times New Roman"/>
              <a:ea typeface="Times New Roman"/>
              <a:cs typeface="Times New Roman"/>
              <a:sym typeface="Times New Roman"/>
            </a:endParaRPr>
          </a:p>
        </p:txBody>
      </p:sp>
      <p:graphicFrame>
        <p:nvGraphicFramePr>
          <p:cNvPr id="86" name="Google Shape;86;p2"/>
          <p:cNvGraphicFramePr/>
          <p:nvPr/>
        </p:nvGraphicFramePr>
        <p:xfrm>
          <a:off x="1299257" y="2600315"/>
          <a:ext cx="3000000" cy="3000000"/>
        </p:xfrm>
        <a:graphic>
          <a:graphicData uri="http://schemas.openxmlformats.org/drawingml/2006/table">
            <a:tbl>
              <a:tblPr>
                <a:noFill/>
                <a:tableStyleId>{9BFF410A-B9F6-41A5-8227-076263616BD0}</a:tableStyleId>
              </a:tblPr>
              <a:tblGrid>
                <a:gridCol w="2064875"/>
                <a:gridCol w="2443375"/>
                <a:gridCol w="2443375"/>
                <a:gridCol w="2443375"/>
              </a:tblGrid>
              <a:tr h="97322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Student Name</a:t>
                      </a:r>
                      <a:endParaRPr sz="1800" u="none" cap="none" strike="noStrike"/>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Recent Passport Photo</a:t>
                      </a:r>
                      <a:endParaRPr sz="1800" u="none" cap="none" strike="noStrike"/>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Email ID </a:t>
                      </a:r>
                      <a:endParaRPr b="0" i="0" sz="18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chemeClr val="lt1"/>
                        </a:buClr>
                        <a:buSzPts val="1800"/>
                        <a:buFont typeface="Calibri"/>
                        <a:buNone/>
                      </a:pPr>
                      <a:r>
                        <a:rPr b="0" i="0" lang="en-US" sz="1800" u="none" cap="none" strike="noStrike">
                          <a:solidFill>
                            <a:srgbClr val="000000"/>
                          </a:solidFill>
                          <a:latin typeface="Arial"/>
                          <a:ea typeface="Arial"/>
                          <a:cs typeface="Arial"/>
                          <a:sym typeface="Arial"/>
                        </a:rPr>
                        <a:t>Mobile number</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1800"/>
                        <a:buFont typeface="Calibri"/>
                        <a:buNone/>
                      </a:pPr>
                      <a:r>
                        <a:rPr b="0" i="0" lang="en-US" sz="1800" u="none" cap="none" strike="noStrike">
                          <a:solidFill>
                            <a:srgbClr val="000000"/>
                          </a:solidFill>
                          <a:latin typeface="Arial"/>
                          <a:ea typeface="Arial"/>
                          <a:cs typeface="Arial"/>
                          <a:sym typeface="Arial"/>
                        </a:rPr>
                        <a:t>[WhatsApp] </a:t>
                      </a:r>
                      <a:endParaRPr b="0" i="0" sz="18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r>
              <a:tr h="1193900">
                <a:tc>
                  <a:txBody>
                    <a:bodyPr/>
                    <a:lstStyle/>
                    <a:p>
                      <a:pPr indent="0" lvl="0" marL="0" marR="0" rtl="0" algn="l">
                        <a:lnSpc>
                          <a:spcPct val="100000"/>
                        </a:lnSpc>
                        <a:spcBef>
                          <a:spcPts val="0"/>
                        </a:spcBef>
                        <a:spcAft>
                          <a:spcPts val="0"/>
                        </a:spcAft>
                        <a:buClr>
                          <a:srgbClr val="000000"/>
                        </a:buClr>
                        <a:buSzPts val="1400"/>
                        <a:buFont typeface="Arial"/>
                        <a:buNone/>
                      </a:pPr>
                      <a:r>
                        <a:rPr lang="en-US"/>
                        <a:t>Niyati Buch</a:t>
                      </a:r>
                      <a:endParaRPr sz="14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a:t>-</a:t>
                      </a:r>
                      <a:endParaRPr sz="14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r>
            </a:tbl>
          </a:graphicData>
        </a:graphic>
      </p:graphicFrame>
      <p:sp>
        <p:nvSpPr>
          <p:cNvPr id="87" name="Google Shape;87;p2"/>
          <p:cNvSpPr txBox="1"/>
          <p:nvPr/>
        </p:nvSpPr>
        <p:spPr>
          <a:xfrm>
            <a:off x="1206164" y="1460724"/>
            <a:ext cx="1028025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Domain of  Project – </a:t>
            </a:r>
            <a:r>
              <a:rPr b="1" i="0" lang="en-US" sz="2400" u="none" cap="none" strike="noStrike">
                <a:solidFill>
                  <a:srgbClr val="000000"/>
                </a:solidFill>
                <a:highlight>
                  <a:srgbClr val="FFFF00"/>
                </a:highlight>
                <a:latin typeface="Arial"/>
                <a:ea typeface="Arial"/>
                <a:cs typeface="Arial"/>
                <a:sym typeface="Arial"/>
              </a:rPr>
              <a:t>Agriculture</a:t>
            </a:r>
            <a:endParaRPr b="1" i="0" sz="2400" u="none" cap="none" strike="noStrike">
              <a:solidFill>
                <a:srgbClr val="000000"/>
              </a:solidFill>
              <a:highlight>
                <a:srgbClr val="FFFF00"/>
              </a:highlight>
              <a:latin typeface="Arial"/>
              <a:ea typeface="Arial"/>
              <a:cs typeface="Arial"/>
              <a:sym typeface="Arial"/>
            </a:endParaRPr>
          </a:p>
        </p:txBody>
      </p:sp>
      <p:sp>
        <p:nvSpPr>
          <p:cNvPr id="88" name="Google Shape;88;p2"/>
          <p:cNvSpPr txBox="1"/>
          <p:nvPr/>
        </p:nvSpPr>
        <p:spPr>
          <a:xfrm>
            <a:off x="1206162" y="551965"/>
            <a:ext cx="958117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Project Tile – </a:t>
            </a:r>
            <a:r>
              <a:rPr b="1" lang="en-US" sz="2400">
                <a:highlight>
                  <a:srgbClr val="FFFF00"/>
                </a:highlight>
              </a:rPr>
              <a:t>Smart Farming Advice Agent</a:t>
            </a:r>
            <a:endParaRPr b="1" i="0" sz="2400" u="none" cap="none" strike="noStrike">
              <a:solidFill>
                <a:srgbClr val="000000"/>
              </a:solidFill>
              <a:highlight>
                <a:srgbClr val="FFFF00"/>
              </a:highlight>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34"/>
          <p:cNvSpPr txBox="1"/>
          <p:nvPr/>
        </p:nvSpPr>
        <p:spPr>
          <a:xfrm>
            <a:off x="576072" y="1234440"/>
            <a:ext cx="10607100" cy="46947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lang="en-US" sz="2300"/>
              <a:t>The Challenge</a:t>
            </a:r>
            <a:endParaRPr sz="2300"/>
          </a:p>
          <a:p>
            <a:pPr indent="0" lvl="0" marL="0" rtl="0" algn="l">
              <a:spcBef>
                <a:spcPts val="0"/>
              </a:spcBef>
              <a:spcAft>
                <a:spcPts val="0"/>
              </a:spcAft>
              <a:buClr>
                <a:schemeClr val="dk1"/>
              </a:buClr>
              <a:buSzPts val="1100"/>
              <a:buFont typeface="Arial"/>
              <a:buNone/>
            </a:pPr>
            <a:r>
              <a:t/>
            </a:r>
            <a:endParaRPr sz="2300"/>
          </a:p>
          <a:p>
            <a:pPr indent="0" lvl="0" marL="0" rtl="0" algn="l">
              <a:spcBef>
                <a:spcPts val="0"/>
              </a:spcBef>
              <a:spcAft>
                <a:spcPts val="0"/>
              </a:spcAft>
              <a:buClr>
                <a:schemeClr val="dk1"/>
              </a:buClr>
              <a:buSzPts val="1100"/>
              <a:buFont typeface="Arial"/>
              <a:buNone/>
            </a:pPr>
            <a:r>
              <a:rPr lang="en-US" sz="2300"/>
              <a:t>Farmers often face difficulties in identifying crop diseases, selecting suitable fertilizers, managing irrigation, and obtaining timely agricultural guidance. Access to expert advice is limited, especially in rural areas, resulting in reduced crop productivity and inefficient resource utilization.</a:t>
            </a:r>
            <a:endParaRPr sz="2300"/>
          </a:p>
          <a:p>
            <a:pPr indent="0" lvl="0" marL="0" rtl="0" algn="l">
              <a:spcBef>
                <a:spcPts val="0"/>
              </a:spcBef>
              <a:spcAft>
                <a:spcPts val="0"/>
              </a:spcAft>
              <a:buClr>
                <a:schemeClr val="dk1"/>
              </a:buClr>
              <a:buSzPts val="1100"/>
              <a:buFont typeface="Arial"/>
              <a:buNone/>
            </a:pPr>
            <a:r>
              <a:t/>
            </a:r>
            <a:endParaRPr sz="2300"/>
          </a:p>
          <a:p>
            <a:pPr indent="0" lvl="0" marL="0" rtl="0" algn="l">
              <a:spcBef>
                <a:spcPts val="0"/>
              </a:spcBef>
              <a:spcAft>
                <a:spcPts val="0"/>
              </a:spcAft>
              <a:buClr>
                <a:schemeClr val="dk1"/>
              </a:buClr>
              <a:buSzPts val="1100"/>
              <a:buFont typeface="Arial"/>
              <a:buNone/>
            </a:pPr>
            <a:r>
              <a:rPr lang="en-US" sz="2300"/>
              <a:t>The Objective</a:t>
            </a:r>
            <a:endParaRPr sz="2300"/>
          </a:p>
          <a:p>
            <a:pPr indent="0" lvl="0" marL="0" rtl="0" algn="l">
              <a:spcBef>
                <a:spcPts val="0"/>
              </a:spcBef>
              <a:spcAft>
                <a:spcPts val="0"/>
              </a:spcAft>
              <a:buClr>
                <a:schemeClr val="dk1"/>
              </a:buClr>
              <a:buSzPts val="1100"/>
              <a:buFont typeface="Arial"/>
              <a:buNone/>
            </a:pPr>
            <a:r>
              <a:t/>
            </a:r>
            <a:endParaRPr sz="2300"/>
          </a:p>
          <a:p>
            <a:pPr indent="0" lvl="0" marL="0" marR="0" rtl="0" algn="l">
              <a:lnSpc>
                <a:spcPct val="100000"/>
              </a:lnSpc>
              <a:spcBef>
                <a:spcPts val="0"/>
              </a:spcBef>
              <a:spcAft>
                <a:spcPts val="0"/>
              </a:spcAft>
              <a:buClr>
                <a:srgbClr val="000000"/>
              </a:buClr>
              <a:buSzPts val="1400"/>
              <a:buFont typeface="Arial"/>
              <a:buNone/>
            </a:pPr>
            <a:r>
              <a:rPr lang="en-US" sz="2300"/>
              <a:t>Develop an AI-powered Smart Farming Advisor that provides farmers with crop management recommendations, pest and disease guidance, irrigation suggestions, and fertilizer recommendations. The system should deliver simple, practical, and timely advice to support informed agricultural decision-making.</a:t>
            </a:r>
            <a:endParaRPr sz="2300"/>
          </a:p>
        </p:txBody>
      </p:sp>
      <p:sp>
        <p:nvSpPr>
          <p:cNvPr id="94" name="Google Shape;94;p34"/>
          <p:cNvSpPr txBox="1"/>
          <p:nvPr/>
        </p:nvSpPr>
        <p:spPr>
          <a:xfrm>
            <a:off x="576072" y="704088"/>
            <a:ext cx="72147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000" u="none" cap="none" strike="noStrike">
                <a:solidFill>
                  <a:srgbClr val="000000"/>
                </a:solidFill>
                <a:latin typeface="Arial"/>
                <a:ea typeface="Arial"/>
                <a:cs typeface="Arial"/>
                <a:sym typeface="Arial"/>
              </a:rPr>
              <a:t>Problem Statement - </a:t>
            </a:r>
            <a:r>
              <a:rPr lang="en-US" sz="2000">
                <a:solidFill>
                  <a:schemeClr val="dk1"/>
                </a:solidFill>
              </a:rPr>
              <a:t>Smart Farming Advice Agent</a:t>
            </a:r>
            <a:endParaRPr b="1" i="0" sz="20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35"/>
          <p:cNvSpPr txBox="1"/>
          <p:nvPr/>
        </p:nvSpPr>
        <p:spPr>
          <a:xfrm>
            <a:off x="667501" y="1165750"/>
            <a:ext cx="10971300" cy="4525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Clr>
                <a:schemeClr val="dk1"/>
              </a:buClr>
              <a:buSzPts val="1100"/>
              <a:buFont typeface="Arial"/>
              <a:buNone/>
            </a:pPr>
            <a:r>
              <a:rPr lang="en-US" sz="2400"/>
              <a:t> LangFlow – Visual workflow design and orchestration platform</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Clr>
                <a:schemeClr val="dk1"/>
              </a:buClr>
              <a:buSzPts val="1100"/>
              <a:buFont typeface="Arial"/>
              <a:buNone/>
            </a:pPr>
            <a:r>
              <a:rPr lang="en-US" sz="2400"/>
              <a:t>IBM WatsonX (Future Integration) – Can be used to deploy and access IBM Granite models.</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Clr>
                <a:schemeClr val="dk1"/>
              </a:buClr>
              <a:buSzPts val="1100"/>
              <a:buFont typeface="Arial"/>
              <a:buNone/>
            </a:pPr>
            <a:r>
              <a:rPr lang="en-US" sz="2400"/>
              <a:t>IBM Granite Models (Future Scope) – Can be integrated to enhance recommendation quality.</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Clr>
                <a:schemeClr val="dk1"/>
              </a:buClr>
              <a:buSzPts val="1100"/>
              <a:buFont typeface="Arial"/>
              <a:buNone/>
            </a:pPr>
            <a:r>
              <a:rPr lang="en-US" sz="2400"/>
              <a:t>Agentic AI – Autonomous decision-making and recommendation generation</a:t>
            </a:r>
            <a:endParaRPr sz="2400"/>
          </a:p>
          <a:p>
            <a:pPr indent="0" lvl="0" marL="0" rtl="0" algn="l">
              <a:spcBef>
                <a:spcPts val="0"/>
              </a:spcBef>
              <a:spcAft>
                <a:spcPts val="0"/>
              </a:spcAft>
              <a:buClr>
                <a:schemeClr val="dk1"/>
              </a:buClr>
              <a:buSzPts val="1100"/>
              <a:buFont typeface="Arial"/>
              <a:buNone/>
            </a:pPr>
            <a:r>
              <a:t/>
            </a:r>
            <a:endParaRPr sz="2400"/>
          </a:p>
          <a:p>
            <a:pPr indent="0" lvl="0" marL="0" marR="0" rtl="0" algn="l">
              <a:lnSpc>
                <a:spcPct val="100000"/>
              </a:lnSpc>
              <a:spcBef>
                <a:spcPts val="0"/>
              </a:spcBef>
              <a:spcAft>
                <a:spcPts val="0"/>
              </a:spcAft>
              <a:buClr>
                <a:srgbClr val="000000"/>
              </a:buClr>
              <a:buSzPts val="1400"/>
              <a:buFont typeface="Arial"/>
              <a:buNone/>
            </a:pPr>
            <a:r>
              <a:rPr lang="en-US" sz="2400"/>
              <a:t>Prompt Engineering – Structured agricultural advisory generation</a:t>
            </a:r>
            <a:endParaRPr sz="2400"/>
          </a:p>
        </p:txBody>
      </p:sp>
      <p:sp>
        <p:nvSpPr>
          <p:cNvPr id="100" name="Google Shape;100;p35"/>
          <p:cNvSpPr txBox="1"/>
          <p:nvPr/>
        </p:nvSpPr>
        <p:spPr>
          <a:xfrm>
            <a:off x="576072" y="704088"/>
            <a:ext cx="721461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Technology Used </a:t>
            </a:r>
            <a:endParaRPr b="1" i="0" sz="2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36"/>
          <p:cNvSpPr txBox="1"/>
          <p:nvPr/>
        </p:nvSpPr>
        <p:spPr>
          <a:xfrm>
            <a:off x="576072" y="1234440"/>
            <a:ext cx="10607100" cy="55104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lang="en-US" sz="2200"/>
              <a:t>The proposed solution is an AI-powered Smart Farming Advisor developed using LangFlow and designed for integration with IBM Granite models through IBM WatsonX.</a:t>
            </a:r>
            <a:endParaRPr sz="2200"/>
          </a:p>
          <a:p>
            <a:pPr indent="0" lvl="0" marL="0" rtl="0" algn="l">
              <a:spcBef>
                <a:spcPts val="0"/>
              </a:spcBef>
              <a:spcAft>
                <a:spcPts val="0"/>
              </a:spcAft>
              <a:buClr>
                <a:schemeClr val="dk1"/>
              </a:buClr>
              <a:buSzPts val="1100"/>
              <a:buFont typeface="Arial"/>
              <a:buNone/>
            </a:pPr>
            <a:r>
              <a:t/>
            </a:r>
            <a:endParaRPr sz="2200"/>
          </a:p>
          <a:p>
            <a:pPr indent="0" lvl="0" marL="0" rtl="0" algn="l">
              <a:spcBef>
                <a:spcPts val="0"/>
              </a:spcBef>
              <a:spcAft>
                <a:spcPts val="0"/>
              </a:spcAft>
              <a:buClr>
                <a:schemeClr val="dk1"/>
              </a:buClr>
              <a:buSzPts val="1100"/>
              <a:buFont typeface="Arial"/>
              <a:buNone/>
            </a:pPr>
            <a:r>
              <a:rPr lang="en-US" sz="2200"/>
              <a:t>The system accepts farming-related queries and provides recommendations regarding crop management, pest control, disease identification, irrigation planning, and fertilizer usage. A prompt-driven agent processes user inputs and generates practical suggestions that farmers can easily understand and implement.</a:t>
            </a:r>
            <a:endParaRPr sz="2200"/>
          </a:p>
          <a:p>
            <a:pPr indent="0" lvl="0" marL="0" rtl="0" algn="l">
              <a:spcBef>
                <a:spcPts val="0"/>
              </a:spcBef>
              <a:spcAft>
                <a:spcPts val="0"/>
              </a:spcAft>
              <a:buClr>
                <a:schemeClr val="dk1"/>
              </a:buClr>
              <a:buSzPts val="1100"/>
              <a:buFont typeface="Arial"/>
              <a:buNone/>
            </a:pPr>
            <a:r>
              <a:t/>
            </a:r>
            <a:endParaRPr sz="2200"/>
          </a:p>
          <a:p>
            <a:pPr indent="0" lvl="0" marL="0" rtl="0" algn="l">
              <a:spcBef>
                <a:spcPts val="0"/>
              </a:spcBef>
              <a:spcAft>
                <a:spcPts val="0"/>
              </a:spcAft>
              <a:buClr>
                <a:schemeClr val="dk1"/>
              </a:buClr>
              <a:buSzPts val="1100"/>
              <a:buFont typeface="Arial"/>
              <a:buNone/>
            </a:pPr>
            <a:r>
              <a:rPr lang="en-US" sz="2200"/>
              <a:t>The solution uses a modular workflow consisting of Chat Input, Agent, Prompt Template, and Chat Output components. This architecture enables future integration with external agricultural databases, weather information services, and IBM Granite models for enhanced intelligence and scalability.</a:t>
            </a:r>
            <a:endParaRPr sz="2200"/>
          </a:p>
          <a:p>
            <a:pPr indent="0" lvl="0" marL="0" rtl="0" algn="l">
              <a:spcBef>
                <a:spcPts val="0"/>
              </a:spcBef>
              <a:spcAft>
                <a:spcPts val="0"/>
              </a:spcAft>
              <a:buClr>
                <a:schemeClr val="dk1"/>
              </a:buClr>
              <a:buSzPts val="1100"/>
              <a:buFont typeface="Arial"/>
              <a:buNone/>
            </a:pPr>
            <a:r>
              <a:t/>
            </a:r>
            <a:endParaRPr sz="2200"/>
          </a:p>
          <a:p>
            <a:pPr indent="0" lvl="0" marL="0" marR="0" rtl="0" algn="l">
              <a:lnSpc>
                <a:spcPct val="100000"/>
              </a:lnSpc>
              <a:spcBef>
                <a:spcPts val="0"/>
              </a:spcBef>
              <a:spcAft>
                <a:spcPts val="0"/>
              </a:spcAft>
              <a:buClr>
                <a:srgbClr val="000000"/>
              </a:buClr>
              <a:buSzPts val="1400"/>
              <a:buFont typeface="Arial"/>
              <a:buNone/>
            </a:pPr>
            <a:r>
              <a:rPr lang="en-US" sz="2200"/>
              <a:t>The system aims to support farmers in making informed agricultural decisions and improving productivity through AI-assisted guidance.</a:t>
            </a:r>
            <a:endParaRPr sz="2200"/>
          </a:p>
        </p:txBody>
      </p:sp>
      <p:sp>
        <p:nvSpPr>
          <p:cNvPr id="106" name="Google Shape;106;p36"/>
          <p:cNvSpPr txBox="1"/>
          <p:nvPr/>
        </p:nvSpPr>
        <p:spPr>
          <a:xfrm>
            <a:off x="576072" y="704088"/>
            <a:ext cx="721461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Proposed Solution -</a:t>
            </a:r>
            <a:endParaRPr b="1" i="0" sz="2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37"/>
          <p:cNvSpPr/>
          <p:nvPr/>
        </p:nvSpPr>
        <p:spPr>
          <a:xfrm>
            <a:off x="537590" y="323239"/>
            <a:ext cx="5908929" cy="448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51D3A"/>
              </a:buClr>
              <a:buSzPts val="3500"/>
              <a:buFont typeface="Times New Roman"/>
              <a:buNone/>
            </a:pPr>
            <a:r>
              <a:rPr b="1" i="0" lang="en-US" sz="2400" u="none" cap="none" strike="noStrike">
                <a:solidFill>
                  <a:srgbClr val="000000"/>
                </a:solidFill>
                <a:latin typeface="Arial"/>
                <a:ea typeface="Arial"/>
                <a:cs typeface="Arial"/>
                <a:sym typeface="Arial"/>
              </a:rPr>
              <a:t>Langflow</a:t>
            </a:r>
            <a:r>
              <a:rPr b="1" i="0" lang="en-US" sz="3500" u="none" cap="none" strike="noStrike">
                <a:solidFill>
                  <a:srgbClr val="051D3A"/>
                </a:solidFill>
                <a:latin typeface="Times New Roman"/>
                <a:ea typeface="Times New Roman"/>
                <a:cs typeface="Times New Roman"/>
                <a:sym typeface="Times New Roman"/>
              </a:rPr>
              <a:t> </a:t>
            </a:r>
            <a:r>
              <a:rPr b="1" i="0" lang="en-US" sz="2400" u="none" cap="none" strike="noStrike">
                <a:solidFill>
                  <a:srgbClr val="000000"/>
                </a:solidFill>
                <a:latin typeface="Arial"/>
                <a:ea typeface="Arial"/>
                <a:cs typeface="Arial"/>
                <a:sym typeface="Arial"/>
              </a:rPr>
              <a:t>component Used -</a:t>
            </a:r>
            <a:endParaRPr b="1" i="0" sz="2400" u="none" cap="none" strike="noStrike">
              <a:solidFill>
                <a:srgbClr val="000000"/>
              </a:solidFill>
              <a:latin typeface="Arial"/>
              <a:ea typeface="Arial"/>
              <a:cs typeface="Arial"/>
              <a:sym typeface="Arial"/>
            </a:endParaRPr>
          </a:p>
        </p:txBody>
      </p:sp>
      <p:sp>
        <p:nvSpPr>
          <p:cNvPr id="112" name="Google Shape;112;p37"/>
          <p:cNvSpPr/>
          <p:nvPr/>
        </p:nvSpPr>
        <p:spPr>
          <a:xfrm>
            <a:off x="2264331" y="6784578"/>
            <a:ext cx="2140744" cy="224195"/>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3" name="Google Shape;113;p37"/>
          <p:cNvSpPr/>
          <p:nvPr/>
        </p:nvSpPr>
        <p:spPr>
          <a:xfrm>
            <a:off x="1782604" y="7100213"/>
            <a:ext cx="3104198" cy="731877"/>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4" name="Google Shape;114;p37"/>
          <p:cNvSpPr/>
          <p:nvPr/>
        </p:nvSpPr>
        <p:spPr>
          <a:xfrm>
            <a:off x="5732383" y="6784578"/>
            <a:ext cx="1793915" cy="224195"/>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5" name="Google Shape;115;p37"/>
          <p:cNvSpPr/>
          <p:nvPr/>
        </p:nvSpPr>
        <p:spPr>
          <a:xfrm>
            <a:off x="5077301" y="7100213"/>
            <a:ext cx="3104198" cy="731877"/>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6" name="Google Shape;116;p37"/>
          <p:cNvSpPr/>
          <p:nvPr/>
        </p:nvSpPr>
        <p:spPr>
          <a:xfrm>
            <a:off x="9027081" y="6784578"/>
            <a:ext cx="1793915" cy="224195"/>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7" name="Google Shape;117;p37"/>
          <p:cNvSpPr/>
          <p:nvPr/>
        </p:nvSpPr>
        <p:spPr>
          <a:xfrm>
            <a:off x="8371999" y="7100213"/>
            <a:ext cx="3104198" cy="731877"/>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8" name="Google Shape;118;p37"/>
          <p:cNvSpPr txBox="1"/>
          <p:nvPr/>
        </p:nvSpPr>
        <p:spPr>
          <a:xfrm>
            <a:off x="474826" y="863175"/>
            <a:ext cx="10346100" cy="34785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lang="en-US" sz="2200"/>
              <a:t>1. Chat Input – Accepts farming-related questions from users.</a:t>
            </a:r>
            <a:endParaRPr sz="2200"/>
          </a:p>
          <a:p>
            <a:pPr indent="0" lvl="0" marL="0" rtl="0" algn="l">
              <a:spcBef>
                <a:spcPts val="0"/>
              </a:spcBef>
              <a:spcAft>
                <a:spcPts val="0"/>
              </a:spcAft>
              <a:buClr>
                <a:schemeClr val="dk1"/>
              </a:buClr>
              <a:buSzPts val="1100"/>
              <a:buFont typeface="Arial"/>
              <a:buNone/>
            </a:pPr>
            <a:r>
              <a:t/>
            </a:r>
            <a:endParaRPr sz="2200"/>
          </a:p>
          <a:p>
            <a:pPr indent="0" lvl="0" marL="0" rtl="0" algn="l">
              <a:spcBef>
                <a:spcPts val="0"/>
              </a:spcBef>
              <a:spcAft>
                <a:spcPts val="0"/>
              </a:spcAft>
              <a:buClr>
                <a:schemeClr val="dk1"/>
              </a:buClr>
              <a:buSzPts val="1100"/>
              <a:buFont typeface="Arial"/>
              <a:buNone/>
            </a:pPr>
            <a:r>
              <a:rPr lang="en-US" sz="2200"/>
              <a:t>2. Agent – Processes user requests and generates agricultural recommendations.</a:t>
            </a:r>
            <a:endParaRPr sz="2200"/>
          </a:p>
          <a:p>
            <a:pPr indent="0" lvl="0" marL="0" rtl="0" algn="l">
              <a:spcBef>
                <a:spcPts val="0"/>
              </a:spcBef>
              <a:spcAft>
                <a:spcPts val="0"/>
              </a:spcAft>
              <a:buClr>
                <a:schemeClr val="dk1"/>
              </a:buClr>
              <a:buSzPts val="1100"/>
              <a:buFont typeface="Arial"/>
              <a:buNone/>
            </a:pPr>
            <a:r>
              <a:t/>
            </a:r>
            <a:endParaRPr sz="2200"/>
          </a:p>
          <a:p>
            <a:pPr indent="0" lvl="0" marL="0" rtl="0" algn="l">
              <a:spcBef>
                <a:spcPts val="0"/>
              </a:spcBef>
              <a:spcAft>
                <a:spcPts val="0"/>
              </a:spcAft>
              <a:buClr>
                <a:schemeClr val="dk1"/>
              </a:buClr>
              <a:buSzPts val="1100"/>
              <a:buFont typeface="Arial"/>
              <a:buNone/>
            </a:pPr>
            <a:r>
              <a:rPr lang="en-US" sz="2200"/>
              <a:t>3. Prompt Template – Defines farming-specific instructions and response behavior.</a:t>
            </a:r>
            <a:endParaRPr sz="2200"/>
          </a:p>
          <a:p>
            <a:pPr indent="0" lvl="0" marL="0" rtl="0" algn="l">
              <a:spcBef>
                <a:spcPts val="0"/>
              </a:spcBef>
              <a:spcAft>
                <a:spcPts val="0"/>
              </a:spcAft>
              <a:buClr>
                <a:schemeClr val="dk1"/>
              </a:buClr>
              <a:buSzPts val="1100"/>
              <a:buFont typeface="Arial"/>
              <a:buNone/>
            </a:pPr>
            <a:r>
              <a:t/>
            </a:r>
            <a:endParaRPr sz="2200"/>
          </a:p>
          <a:p>
            <a:pPr indent="0" lvl="0" marL="0" rtl="0" algn="l">
              <a:spcBef>
                <a:spcPts val="0"/>
              </a:spcBef>
              <a:spcAft>
                <a:spcPts val="0"/>
              </a:spcAft>
              <a:buClr>
                <a:schemeClr val="dk1"/>
              </a:buClr>
              <a:buSzPts val="1100"/>
              <a:buFont typeface="Arial"/>
              <a:buNone/>
            </a:pPr>
            <a:r>
              <a:rPr lang="en-US" sz="2200"/>
              <a:t>4. Chat Output – Displays generated recommendations.</a:t>
            </a:r>
            <a:endParaRPr sz="2200"/>
          </a:p>
          <a:p>
            <a:pPr indent="0" lvl="0" marL="0" rtl="0" algn="l">
              <a:spcBef>
                <a:spcPts val="0"/>
              </a:spcBef>
              <a:spcAft>
                <a:spcPts val="0"/>
              </a:spcAft>
              <a:buClr>
                <a:schemeClr val="dk1"/>
              </a:buClr>
              <a:buSzPts val="1100"/>
              <a:buFont typeface="Arial"/>
              <a:buNone/>
            </a:pPr>
            <a:r>
              <a:t/>
            </a:r>
            <a:endParaRPr sz="2200"/>
          </a:p>
          <a:p>
            <a:pPr indent="0" lvl="0" marL="0" marR="0" rtl="0" algn="l">
              <a:lnSpc>
                <a:spcPct val="100000"/>
              </a:lnSpc>
              <a:spcBef>
                <a:spcPts val="0"/>
              </a:spcBef>
              <a:spcAft>
                <a:spcPts val="0"/>
              </a:spcAft>
              <a:buClr>
                <a:srgbClr val="000000"/>
              </a:buClr>
              <a:buSzPts val="1400"/>
              <a:buFont typeface="Arial"/>
              <a:buNone/>
            </a:pPr>
            <a:r>
              <a:rPr lang="en-US" sz="2200"/>
              <a:t>5. IBM WatsonX Provider – Intended integration point for IBM Granite </a:t>
            </a:r>
            <a:endParaRPr b="0" i="0" sz="22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38"/>
          <p:cNvSpPr/>
          <p:nvPr/>
        </p:nvSpPr>
        <p:spPr>
          <a:xfrm>
            <a:off x="537590" y="323239"/>
            <a:ext cx="5908929" cy="448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51D3A"/>
              </a:buClr>
              <a:buSzPts val="3500"/>
              <a:buFont typeface="Times New Roman"/>
              <a:buNone/>
            </a:pPr>
            <a:r>
              <a:rPr b="1" i="0" lang="en-US" sz="2400" u="none" cap="none" strike="noStrike">
                <a:solidFill>
                  <a:srgbClr val="000000"/>
                </a:solidFill>
                <a:latin typeface="Arial"/>
                <a:ea typeface="Arial"/>
                <a:cs typeface="Arial"/>
                <a:sym typeface="Arial"/>
              </a:rPr>
              <a:t>Langflow</a:t>
            </a:r>
            <a:r>
              <a:rPr b="1" i="0" lang="en-US" sz="3500" u="none" cap="none" strike="noStrike">
                <a:solidFill>
                  <a:srgbClr val="051D3A"/>
                </a:solidFill>
                <a:latin typeface="Times New Roman"/>
                <a:ea typeface="Times New Roman"/>
                <a:cs typeface="Times New Roman"/>
                <a:sym typeface="Times New Roman"/>
              </a:rPr>
              <a:t> </a:t>
            </a:r>
            <a:r>
              <a:rPr b="1" i="0" lang="en-US" sz="2400" u="none" cap="none" strike="noStrike">
                <a:solidFill>
                  <a:srgbClr val="000000"/>
                </a:solidFill>
                <a:latin typeface="Arial"/>
                <a:ea typeface="Arial"/>
                <a:cs typeface="Arial"/>
                <a:sym typeface="Arial"/>
              </a:rPr>
              <a:t>workflow -</a:t>
            </a:r>
            <a:endParaRPr b="1" i="0" sz="2400" u="none" cap="none" strike="noStrike">
              <a:solidFill>
                <a:srgbClr val="000000"/>
              </a:solidFill>
              <a:latin typeface="Arial"/>
              <a:ea typeface="Arial"/>
              <a:cs typeface="Arial"/>
              <a:sym typeface="Arial"/>
            </a:endParaRPr>
          </a:p>
        </p:txBody>
      </p:sp>
      <p:pic>
        <p:nvPicPr>
          <p:cNvPr id="124" name="Google Shape;124;p38" title="Screenshot from 2026-06-11 14-01-52.png"/>
          <p:cNvPicPr preferRelativeResize="0"/>
          <p:nvPr/>
        </p:nvPicPr>
        <p:blipFill>
          <a:blip r:embed="rId3">
            <a:alphaModFix/>
          </a:blip>
          <a:stretch>
            <a:fillRect/>
          </a:stretch>
        </p:blipFill>
        <p:spPr>
          <a:xfrm>
            <a:off x="152400" y="924151"/>
            <a:ext cx="11704800" cy="52947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7"/>
          <p:cNvSpPr/>
          <p:nvPr/>
        </p:nvSpPr>
        <p:spPr>
          <a:xfrm>
            <a:off x="537590" y="323239"/>
            <a:ext cx="5908929" cy="448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libri"/>
                <a:ea typeface="Calibri"/>
                <a:cs typeface="Calibri"/>
                <a:sym typeface="Calibri"/>
              </a:rPr>
              <a:t>Architecture blueprint</a:t>
            </a:r>
            <a:endParaRPr b="0" i="0" sz="2400" u="none" cap="none" strike="noStrike">
              <a:solidFill>
                <a:srgbClr val="000000"/>
              </a:solidFill>
              <a:latin typeface="Arial"/>
              <a:ea typeface="Arial"/>
              <a:cs typeface="Arial"/>
              <a:sym typeface="Arial"/>
            </a:endParaRPr>
          </a:p>
        </p:txBody>
      </p:sp>
      <p:sp>
        <p:nvSpPr>
          <p:cNvPr id="130" name="Google Shape;130;p7"/>
          <p:cNvSpPr txBox="1"/>
          <p:nvPr/>
        </p:nvSpPr>
        <p:spPr>
          <a:xfrm>
            <a:off x="537600" y="958650"/>
            <a:ext cx="7644600" cy="5187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500"/>
              <a:t>Farmer/User</a:t>
            </a:r>
            <a:endParaRPr sz="2500"/>
          </a:p>
          <a:p>
            <a:pPr indent="0" lvl="0" marL="0" rtl="0" algn="l">
              <a:spcBef>
                <a:spcPts val="0"/>
              </a:spcBef>
              <a:spcAft>
                <a:spcPts val="0"/>
              </a:spcAft>
              <a:buNone/>
            </a:pPr>
            <a:r>
              <a:rPr lang="en-US" sz="2500"/>
              <a:t>      ↓</a:t>
            </a:r>
            <a:endParaRPr sz="2500"/>
          </a:p>
          <a:p>
            <a:pPr indent="0" lvl="0" marL="0" rtl="0" algn="l">
              <a:spcBef>
                <a:spcPts val="0"/>
              </a:spcBef>
              <a:spcAft>
                <a:spcPts val="0"/>
              </a:spcAft>
              <a:buNone/>
            </a:pPr>
            <a:r>
              <a:rPr lang="en-US" sz="2500"/>
              <a:t>Chat Input</a:t>
            </a:r>
            <a:endParaRPr sz="2500"/>
          </a:p>
          <a:p>
            <a:pPr indent="0" lvl="0" marL="0" rtl="0" algn="l">
              <a:spcBef>
                <a:spcPts val="0"/>
              </a:spcBef>
              <a:spcAft>
                <a:spcPts val="0"/>
              </a:spcAft>
              <a:buNone/>
            </a:pPr>
            <a:r>
              <a:rPr lang="en-US" sz="2500"/>
              <a:t>      ↓</a:t>
            </a:r>
            <a:endParaRPr sz="2500"/>
          </a:p>
          <a:p>
            <a:pPr indent="0" lvl="0" marL="0" rtl="0" algn="l">
              <a:spcBef>
                <a:spcPts val="0"/>
              </a:spcBef>
              <a:spcAft>
                <a:spcPts val="0"/>
              </a:spcAft>
              <a:buNone/>
            </a:pPr>
            <a:r>
              <a:rPr lang="en-US" sz="2500"/>
              <a:t>LangFlow Agent</a:t>
            </a:r>
            <a:endParaRPr sz="2500"/>
          </a:p>
          <a:p>
            <a:pPr indent="0" lvl="0" marL="0" rtl="0" algn="l">
              <a:spcBef>
                <a:spcPts val="0"/>
              </a:spcBef>
              <a:spcAft>
                <a:spcPts val="0"/>
              </a:spcAft>
              <a:buNone/>
            </a:pPr>
            <a:r>
              <a:rPr lang="en-US" sz="2500"/>
              <a:t>      ↓</a:t>
            </a:r>
            <a:endParaRPr sz="2500"/>
          </a:p>
          <a:p>
            <a:pPr indent="0" lvl="0" marL="0" rtl="0" algn="l">
              <a:spcBef>
                <a:spcPts val="0"/>
              </a:spcBef>
              <a:spcAft>
                <a:spcPts val="0"/>
              </a:spcAft>
              <a:buNone/>
            </a:pPr>
            <a:r>
              <a:rPr lang="en-US" sz="2500"/>
              <a:t>Prompt Template</a:t>
            </a:r>
            <a:endParaRPr sz="2500"/>
          </a:p>
          <a:p>
            <a:pPr indent="0" lvl="0" marL="0" rtl="0" algn="l">
              <a:spcBef>
                <a:spcPts val="0"/>
              </a:spcBef>
              <a:spcAft>
                <a:spcPts val="0"/>
              </a:spcAft>
              <a:buNone/>
            </a:pPr>
            <a:r>
              <a:rPr lang="en-US" sz="2500"/>
              <a:t>      ↓</a:t>
            </a:r>
            <a:endParaRPr sz="2500"/>
          </a:p>
          <a:p>
            <a:pPr indent="0" lvl="0" marL="0" rtl="0" algn="l">
              <a:spcBef>
                <a:spcPts val="0"/>
              </a:spcBef>
              <a:spcAft>
                <a:spcPts val="0"/>
              </a:spcAft>
              <a:buNone/>
            </a:pPr>
            <a:r>
              <a:rPr lang="en-US" sz="2500"/>
              <a:t>IBM Granite Model</a:t>
            </a:r>
            <a:endParaRPr sz="2500"/>
          </a:p>
          <a:p>
            <a:pPr indent="0" lvl="0" marL="0" rtl="0" algn="l">
              <a:spcBef>
                <a:spcPts val="0"/>
              </a:spcBef>
              <a:spcAft>
                <a:spcPts val="0"/>
              </a:spcAft>
              <a:buNone/>
            </a:pPr>
            <a:r>
              <a:rPr lang="en-US" sz="2500"/>
              <a:t>      ↓</a:t>
            </a:r>
            <a:endParaRPr sz="2500"/>
          </a:p>
          <a:p>
            <a:pPr indent="0" lvl="0" marL="0" rtl="0" algn="l">
              <a:spcBef>
                <a:spcPts val="0"/>
              </a:spcBef>
              <a:spcAft>
                <a:spcPts val="0"/>
              </a:spcAft>
              <a:buNone/>
            </a:pPr>
            <a:r>
              <a:rPr lang="en-US" sz="2500"/>
              <a:t>Agricultural Recommendation</a:t>
            </a:r>
            <a:endParaRPr sz="2500"/>
          </a:p>
          <a:p>
            <a:pPr indent="0" lvl="0" marL="0" rtl="0" algn="l">
              <a:spcBef>
                <a:spcPts val="0"/>
              </a:spcBef>
              <a:spcAft>
                <a:spcPts val="0"/>
              </a:spcAft>
              <a:buNone/>
            </a:pPr>
            <a:r>
              <a:rPr lang="en-US" sz="2500"/>
              <a:t>      ↓</a:t>
            </a:r>
            <a:endParaRPr sz="2500"/>
          </a:p>
          <a:p>
            <a:pPr indent="0" lvl="0" marL="0" rtl="0" algn="l">
              <a:spcBef>
                <a:spcPts val="0"/>
              </a:spcBef>
              <a:spcAft>
                <a:spcPts val="0"/>
              </a:spcAft>
              <a:buNone/>
            </a:pPr>
            <a:r>
              <a:rPr lang="en-US" sz="2500"/>
              <a:t>Chat Output</a:t>
            </a:r>
            <a:endParaRPr sz="25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9"/>
          <p:cNvSpPr txBox="1"/>
          <p:nvPr/>
        </p:nvSpPr>
        <p:spPr>
          <a:xfrm>
            <a:off x="475488" y="283464"/>
            <a:ext cx="9317700" cy="584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00000"/>
                </a:solidFill>
                <a:latin typeface="Arial"/>
                <a:ea typeface="Arial"/>
                <a:cs typeface="Arial"/>
                <a:sym typeface="Arial"/>
              </a:rPr>
              <a:t>Role of Agentic AI in the solution </a:t>
            </a:r>
            <a:endParaRPr b="1" i="0" sz="3200" u="none" cap="none" strike="noStrike">
              <a:solidFill>
                <a:srgbClr val="000000"/>
              </a:solidFill>
              <a:latin typeface="Arial"/>
              <a:ea typeface="Arial"/>
              <a:cs typeface="Arial"/>
              <a:sym typeface="Arial"/>
            </a:endParaRPr>
          </a:p>
        </p:txBody>
      </p:sp>
      <p:sp>
        <p:nvSpPr>
          <p:cNvPr id="136" name="Google Shape;136;p9"/>
          <p:cNvSpPr txBox="1"/>
          <p:nvPr/>
        </p:nvSpPr>
        <p:spPr>
          <a:xfrm>
            <a:off x="621800" y="1167500"/>
            <a:ext cx="10881900" cy="5171700"/>
          </a:xfrm>
          <a:prstGeom prst="rect">
            <a:avLst/>
          </a:prstGeom>
          <a:noFill/>
          <a:ln>
            <a:noFill/>
          </a:ln>
        </p:spPr>
        <p:txBody>
          <a:bodyPr anchorCtr="0" anchor="t" bIns="45700" lIns="91425" spcFirstLastPara="1" rIns="91425" wrap="square" tIns="45700">
            <a:spAutoFit/>
          </a:bodyPr>
          <a:lstStyle/>
          <a:p>
            <a:pPr indent="0" lvl="0" marL="0" rtl="0" algn="just">
              <a:spcBef>
                <a:spcPts val="0"/>
              </a:spcBef>
              <a:spcAft>
                <a:spcPts val="0"/>
              </a:spcAft>
              <a:buClr>
                <a:schemeClr val="dk1"/>
              </a:buClr>
              <a:buSzPts val="1100"/>
              <a:buFont typeface="Arial"/>
              <a:buNone/>
            </a:pPr>
            <a:r>
              <a:t/>
            </a:r>
            <a:endParaRPr sz="2200"/>
          </a:p>
          <a:p>
            <a:pPr indent="0" lvl="0" marL="0" rtl="0" algn="just">
              <a:spcBef>
                <a:spcPts val="0"/>
              </a:spcBef>
              <a:spcAft>
                <a:spcPts val="0"/>
              </a:spcAft>
              <a:buClr>
                <a:schemeClr val="dk1"/>
              </a:buClr>
              <a:buSzPts val="1100"/>
              <a:buFont typeface="Arial"/>
              <a:buNone/>
            </a:pPr>
            <a:r>
              <a:rPr lang="en-US" sz="2200"/>
              <a:t>Agentic AI enables the Smart Farming Advisor to function as an intelligent decision-support system rather than a simple chatbot. The agent receives farming-related queries, interprets user requirements, and generates context-aware recommendations.</a:t>
            </a:r>
            <a:endParaRPr sz="2200"/>
          </a:p>
          <a:p>
            <a:pPr indent="0" lvl="0" marL="0" rtl="0" algn="just">
              <a:spcBef>
                <a:spcPts val="0"/>
              </a:spcBef>
              <a:spcAft>
                <a:spcPts val="0"/>
              </a:spcAft>
              <a:buClr>
                <a:schemeClr val="dk1"/>
              </a:buClr>
              <a:buSzPts val="1100"/>
              <a:buFont typeface="Arial"/>
              <a:buNone/>
            </a:pPr>
            <a:r>
              <a:t/>
            </a:r>
            <a:endParaRPr sz="2200"/>
          </a:p>
          <a:p>
            <a:pPr indent="0" lvl="0" marL="0" rtl="0" algn="just">
              <a:spcBef>
                <a:spcPts val="0"/>
              </a:spcBef>
              <a:spcAft>
                <a:spcPts val="0"/>
              </a:spcAft>
              <a:buClr>
                <a:schemeClr val="dk1"/>
              </a:buClr>
              <a:buSzPts val="1100"/>
              <a:buFont typeface="Arial"/>
              <a:buNone/>
            </a:pPr>
            <a:r>
              <a:rPr lang="en-US" sz="2200"/>
              <a:t>The system can assist farmers with crop management, pest and disease identification, irrigation planning, and fertilizer recommendations. By using structured prompts and agent-based reasoning, the solution provides practical and easy-to-understand agricultural guidance.</a:t>
            </a:r>
            <a:endParaRPr sz="2200"/>
          </a:p>
          <a:p>
            <a:pPr indent="0" lvl="0" marL="0" rtl="0" algn="just">
              <a:spcBef>
                <a:spcPts val="0"/>
              </a:spcBef>
              <a:spcAft>
                <a:spcPts val="0"/>
              </a:spcAft>
              <a:buClr>
                <a:schemeClr val="dk1"/>
              </a:buClr>
              <a:buSzPts val="1100"/>
              <a:buFont typeface="Arial"/>
              <a:buNone/>
            </a:pPr>
            <a:r>
              <a:t/>
            </a:r>
            <a:endParaRPr sz="2200"/>
          </a:p>
          <a:p>
            <a:pPr indent="0" lvl="0" marL="0" marR="0" rtl="0" algn="just">
              <a:lnSpc>
                <a:spcPct val="100000"/>
              </a:lnSpc>
              <a:spcBef>
                <a:spcPts val="0"/>
              </a:spcBef>
              <a:spcAft>
                <a:spcPts val="0"/>
              </a:spcAft>
              <a:buClr>
                <a:srgbClr val="000000"/>
              </a:buClr>
              <a:buSzPts val="1400"/>
              <a:buFont typeface="Arial"/>
              <a:buNone/>
            </a:pPr>
            <a:r>
              <a:rPr lang="en-US" sz="2200"/>
              <a:t>Agentic AI allows the system to automate information processing, improve recommendation quality, and support informed agricultural decision-making. Future integration with IBM Granite models and agricultural knowledge sources can further enhance the intelligence and adaptability of the system.</a:t>
            </a:r>
            <a:endParaRPr sz="22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39"/>
          <p:cNvSpPr txBox="1"/>
          <p:nvPr/>
        </p:nvSpPr>
        <p:spPr>
          <a:xfrm>
            <a:off x="777240" y="484632"/>
            <a:ext cx="712317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Technology Used</a:t>
            </a:r>
            <a:endParaRPr b="1" i="0" sz="2400" u="none" cap="none" strike="noStrike">
              <a:solidFill>
                <a:srgbClr val="000000"/>
              </a:solidFill>
              <a:latin typeface="Arial"/>
              <a:ea typeface="Arial"/>
              <a:cs typeface="Arial"/>
              <a:sym typeface="Arial"/>
            </a:endParaRPr>
          </a:p>
        </p:txBody>
      </p:sp>
      <p:sp>
        <p:nvSpPr>
          <p:cNvPr id="142" name="Google Shape;142;p39"/>
          <p:cNvSpPr txBox="1"/>
          <p:nvPr/>
        </p:nvSpPr>
        <p:spPr>
          <a:xfrm>
            <a:off x="777250" y="1206985"/>
            <a:ext cx="10515600" cy="49410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b="1" lang="en-US" sz="2100">
                <a:solidFill>
                  <a:schemeClr val="dk1"/>
                </a:solidFill>
              </a:rPr>
              <a:t>LangFlow</a:t>
            </a:r>
            <a:r>
              <a:rPr lang="en-US" sz="2100">
                <a:solidFill>
                  <a:schemeClr val="dk1"/>
                </a:solidFill>
              </a:rPr>
              <a:t> – Visual platform for designing and orchestrating AI workflows.</a:t>
            </a:r>
            <a:endParaRPr sz="2100">
              <a:solidFill>
                <a:schemeClr val="dk1"/>
              </a:solidFill>
            </a:endParaRPr>
          </a:p>
          <a:p>
            <a:pPr indent="0" lvl="0" marL="0" rtl="0" algn="l">
              <a:spcBef>
                <a:spcPts val="0"/>
              </a:spcBef>
              <a:spcAft>
                <a:spcPts val="0"/>
              </a:spcAft>
              <a:buClr>
                <a:schemeClr val="dk1"/>
              </a:buClr>
              <a:buSzPts val="1100"/>
              <a:buFont typeface="Arial"/>
              <a:buNone/>
            </a:pPr>
            <a:r>
              <a:t/>
            </a:r>
            <a:endParaRPr sz="2100">
              <a:solidFill>
                <a:schemeClr val="dk1"/>
              </a:solidFill>
            </a:endParaRPr>
          </a:p>
          <a:p>
            <a:pPr indent="0" lvl="0" marL="0" rtl="0" algn="l">
              <a:spcBef>
                <a:spcPts val="0"/>
              </a:spcBef>
              <a:spcAft>
                <a:spcPts val="0"/>
              </a:spcAft>
              <a:buClr>
                <a:schemeClr val="dk1"/>
              </a:buClr>
              <a:buSzPts val="1100"/>
              <a:buFont typeface="Arial"/>
              <a:buNone/>
            </a:pPr>
            <a:r>
              <a:rPr b="1" lang="en-US" sz="2100">
                <a:solidFill>
                  <a:schemeClr val="dk1"/>
                </a:solidFill>
              </a:rPr>
              <a:t>Agentic AI Concepts</a:t>
            </a:r>
            <a:r>
              <a:rPr lang="en-US" sz="2100">
                <a:solidFill>
                  <a:schemeClr val="dk1"/>
                </a:solidFill>
              </a:rPr>
              <a:t> – Used to design an intelligent workflow capable of processing farming-related queries and generating recommendations.</a:t>
            </a:r>
            <a:endParaRPr sz="2100">
              <a:solidFill>
                <a:schemeClr val="dk1"/>
              </a:solidFill>
            </a:endParaRPr>
          </a:p>
          <a:p>
            <a:pPr indent="0" lvl="0" marL="0" rtl="0" algn="l">
              <a:spcBef>
                <a:spcPts val="0"/>
              </a:spcBef>
              <a:spcAft>
                <a:spcPts val="0"/>
              </a:spcAft>
              <a:buClr>
                <a:schemeClr val="dk1"/>
              </a:buClr>
              <a:buSzPts val="1100"/>
              <a:buFont typeface="Arial"/>
              <a:buNone/>
            </a:pPr>
            <a:r>
              <a:t/>
            </a:r>
            <a:endParaRPr sz="2100">
              <a:solidFill>
                <a:schemeClr val="dk1"/>
              </a:solidFill>
            </a:endParaRPr>
          </a:p>
          <a:p>
            <a:pPr indent="0" lvl="0" marL="0" rtl="0" algn="l">
              <a:spcBef>
                <a:spcPts val="0"/>
              </a:spcBef>
              <a:spcAft>
                <a:spcPts val="0"/>
              </a:spcAft>
              <a:buClr>
                <a:schemeClr val="dk1"/>
              </a:buClr>
              <a:buSzPts val="1100"/>
              <a:buFont typeface="Arial"/>
              <a:buNone/>
            </a:pPr>
            <a:r>
              <a:rPr b="1" lang="en-US" sz="2100">
                <a:solidFill>
                  <a:schemeClr val="dk1"/>
                </a:solidFill>
              </a:rPr>
              <a:t>Prompt Engineering</a:t>
            </a:r>
            <a:r>
              <a:rPr lang="en-US" sz="2100">
                <a:solidFill>
                  <a:schemeClr val="dk1"/>
                </a:solidFill>
              </a:rPr>
              <a:t> – Provides domain-specific farming instructions to guide the agent's behavior and responses.</a:t>
            </a:r>
            <a:endParaRPr sz="2100">
              <a:solidFill>
                <a:schemeClr val="dk1"/>
              </a:solidFill>
            </a:endParaRPr>
          </a:p>
          <a:p>
            <a:pPr indent="0" lvl="0" marL="0" rtl="0" algn="l">
              <a:spcBef>
                <a:spcPts val="0"/>
              </a:spcBef>
              <a:spcAft>
                <a:spcPts val="0"/>
              </a:spcAft>
              <a:buClr>
                <a:schemeClr val="dk1"/>
              </a:buClr>
              <a:buSzPts val="1100"/>
              <a:buFont typeface="Arial"/>
              <a:buNone/>
            </a:pPr>
            <a:r>
              <a:t/>
            </a:r>
            <a:endParaRPr sz="2100">
              <a:solidFill>
                <a:schemeClr val="dk1"/>
              </a:solidFill>
            </a:endParaRPr>
          </a:p>
          <a:p>
            <a:pPr indent="0" lvl="0" marL="0" rtl="0" algn="l">
              <a:spcBef>
                <a:spcPts val="0"/>
              </a:spcBef>
              <a:spcAft>
                <a:spcPts val="0"/>
              </a:spcAft>
              <a:buClr>
                <a:schemeClr val="dk1"/>
              </a:buClr>
              <a:buSzPts val="1100"/>
              <a:buFont typeface="Arial"/>
              <a:buNone/>
            </a:pPr>
            <a:r>
              <a:rPr b="1" lang="en-US" sz="2100">
                <a:solidFill>
                  <a:schemeClr val="dk1"/>
                </a:solidFill>
              </a:rPr>
              <a:t>Python Environment</a:t>
            </a:r>
            <a:r>
              <a:rPr lang="en-US" sz="2100">
                <a:solidFill>
                  <a:schemeClr val="dk1"/>
                </a:solidFill>
              </a:rPr>
              <a:t> – Used to install and run LangFlow locally on Linux.</a:t>
            </a:r>
            <a:endParaRPr sz="2100">
              <a:solidFill>
                <a:schemeClr val="dk1"/>
              </a:solidFill>
            </a:endParaRPr>
          </a:p>
          <a:p>
            <a:pPr indent="0" lvl="0" marL="0" rtl="0" algn="l">
              <a:spcBef>
                <a:spcPts val="0"/>
              </a:spcBef>
              <a:spcAft>
                <a:spcPts val="0"/>
              </a:spcAft>
              <a:buClr>
                <a:schemeClr val="dk1"/>
              </a:buClr>
              <a:buSzPts val="1100"/>
              <a:buFont typeface="Arial"/>
              <a:buNone/>
            </a:pPr>
            <a:r>
              <a:t/>
            </a:r>
            <a:endParaRPr sz="2100">
              <a:solidFill>
                <a:schemeClr val="dk1"/>
              </a:solidFill>
            </a:endParaRPr>
          </a:p>
          <a:p>
            <a:pPr indent="0" lvl="0" marL="0" rtl="0" algn="l">
              <a:spcBef>
                <a:spcPts val="0"/>
              </a:spcBef>
              <a:spcAft>
                <a:spcPts val="0"/>
              </a:spcAft>
              <a:buClr>
                <a:schemeClr val="dk1"/>
              </a:buClr>
              <a:buSzPts val="1100"/>
              <a:buFont typeface="Arial"/>
              <a:buNone/>
            </a:pPr>
            <a:r>
              <a:rPr b="1" lang="en-US" sz="2100">
                <a:solidFill>
                  <a:schemeClr val="dk1"/>
                </a:solidFill>
              </a:rPr>
              <a:t>IBM WatsonX (Future Integration)</a:t>
            </a:r>
            <a:r>
              <a:rPr lang="en-US" sz="2100">
                <a:solidFill>
                  <a:schemeClr val="dk1"/>
                </a:solidFill>
              </a:rPr>
              <a:t> – Can be used to deploy and access IBM Granite models for advanced agricultural reasoning.</a:t>
            </a:r>
            <a:endParaRPr sz="2100">
              <a:solidFill>
                <a:schemeClr val="dk1"/>
              </a:solidFill>
            </a:endParaRPr>
          </a:p>
          <a:p>
            <a:pPr indent="0" lvl="0" marL="0" rtl="0" algn="l">
              <a:spcBef>
                <a:spcPts val="0"/>
              </a:spcBef>
              <a:spcAft>
                <a:spcPts val="0"/>
              </a:spcAft>
              <a:buClr>
                <a:schemeClr val="dk1"/>
              </a:buClr>
              <a:buSzPts val="1100"/>
              <a:buFont typeface="Arial"/>
              <a:buNone/>
            </a:pPr>
            <a:r>
              <a:t/>
            </a:r>
            <a:endParaRPr sz="2100">
              <a:solidFill>
                <a:schemeClr val="dk1"/>
              </a:solidFill>
            </a:endParaRPr>
          </a:p>
          <a:p>
            <a:pPr indent="0" lvl="0" marL="0" rtl="0" algn="l">
              <a:spcBef>
                <a:spcPts val="0"/>
              </a:spcBef>
              <a:spcAft>
                <a:spcPts val="0"/>
              </a:spcAft>
              <a:buClr>
                <a:schemeClr val="dk1"/>
              </a:buClr>
              <a:buSzPts val="1100"/>
              <a:buFont typeface="Arial"/>
              <a:buNone/>
            </a:pPr>
            <a:r>
              <a:rPr b="1" lang="en-US" sz="2100">
                <a:solidFill>
                  <a:schemeClr val="dk1"/>
                </a:solidFill>
              </a:rPr>
              <a:t>IBM Granite Models (Future Scope)</a:t>
            </a:r>
            <a:r>
              <a:rPr lang="en-US" sz="2100">
                <a:solidFill>
                  <a:schemeClr val="dk1"/>
                </a:solidFill>
              </a:rPr>
              <a:t> – Large Language Models that can be integrated with the workflow to enhance recommendation quality and decision support.</a:t>
            </a:r>
            <a:endParaRPr b="1" sz="21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40"/>
          <p:cNvSpPr/>
          <p:nvPr/>
        </p:nvSpPr>
        <p:spPr>
          <a:xfrm>
            <a:off x="793192" y="341560"/>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Token Usage </a:t>
            </a:r>
            <a:endParaRPr b="1" i="0" sz="2400" u="none" cap="none" strike="noStrike">
              <a:solidFill>
                <a:srgbClr val="000000"/>
              </a:solidFill>
              <a:latin typeface="Arial"/>
              <a:ea typeface="Arial"/>
              <a:cs typeface="Arial"/>
              <a:sym typeface="Arial"/>
            </a:endParaRPr>
          </a:p>
        </p:txBody>
      </p:sp>
      <p:sp>
        <p:nvSpPr>
          <p:cNvPr id="148" name="Google Shape;148;p40"/>
          <p:cNvSpPr txBox="1"/>
          <p:nvPr/>
        </p:nvSpPr>
        <p:spPr>
          <a:xfrm>
            <a:off x="712850" y="1045575"/>
            <a:ext cx="10459200" cy="338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600"/>
              <a:t>Prototype Demonstration</a:t>
            </a:r>
            <a:endParaRPr sz="2600"/>
          </a:p>
          <a:p>
            <a:pPr indent="0" lvl="0" marL="0" rtl="0" algn="l">
              <a:spcBef>
                <a:spcPts val="0"/>
              </a:spcBef>
              <a:spcAft>
                <a:spcPts val="0"/>
              </a:spcAft>
              <a:buNone/>
            </a:pPr>
            <a:r>
              <a:t/>
            </a:r>
            <a:endParaRPr sz="2600"/>
          </a:p>
          <a:p>
            <a:pPr indent="0" lvl="0" marL="0" rtl="0" algn="l">
              <a:spcBef>
                <a:spcPts val="0"/>
              </a:spcBef>
              <a:spcAft>
                <a:spcPts val="0"/>
              </a:spcAft>
              <a:buNone/>
            </a:pPr>
            <a:r>
              <a:rPr lang="en-US" sz="2600"/>
              <a:t>• Local LangFlow workflow designed and tested.</a:t>
            </a:r>
            <a:endParaRPr sz="2600"/>
          </a:p>
          <a:p>
            <a:pPr indent="0" lvl="0" marL="0" rtl="0" algn="l">
              <a:spcBef>
                <a:spcPts val="0"/>
              </a:spcBef>
              <a:spcAft>
                <a:spcPts val="0"/>
              </a:spcAft>
              <a:buNone/>
            </a:pPr>
            <a:r>
              <a:t/>
            </a:r>
            <a:endParaRPr sz="2600"/>
          </a:p>
          <a:p>
            <a:pPr indent="0" lvl="0" marL="0" rtl="0" algn="l">
              <a:spcBef>
                <a:spcPts val="0"/>
              </a:spcBef>
              <a:spcAft>
                <a:spcPts val="0"/>
              </a:spcAft>
              <a:buNone/>
            </a:pPr>
            <a:r>
              <a:rPr lang="en-US" sz="2600"/>
              <a:t>• No external API consumption during prototype development.</a:t>
            </a:r>
            <a:endParaRPr sz="2600"/>
          </a:p>
          <a:p>
            <a:pPr indent="0" lvl="0" marL="0" rtl="0" algn="l">
              <a:spcBef>
                <a:spcPts val="0"/>
              </a:spcBef>
              <a:spcAft>
                <a:spcPts val="0"/>
              </a:spcAft>
              <a:buNone/>
            </a:pPr>
            <a:r>
              <a:t/>
            </a:r>
            <a:endParaRPr sz="2600"/>
          </a:p>
          <a:p>
            <a:pPr indent="0" lvl="0" marL="0" rtl="0" algn="l">
              <a:spcBef>
                <a:spcPts val="0"/>
              </a:spcBef>
              <a:spcAft>
                <a:spcPts val="0"/>
              </a:spcAft>
              <a:buNone/>
            </a:pPr>
            <a:r>
              <a:rPr lang="en-US" sz="2600"/>
              <a:t>• Token usage will depend on the selected IBM Granite model during deployment through IBM WatsonX.</a:t>
            </a:r>
            <a:endParaRPr sz="26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41"/>
          <p:cNvSpPr txBox="1"/>
          <p:nvPr/>
        </p:nvSpPr>
        <p:spPr>
          <a:xfrm>
            <a:off x="777240" y="484632"/>
            <a:ext cx="712317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Novelty and Uniqueness</a:t>
            </a:r>
            <a:endParaRPr b="1" i="0" sz="2400" u="none" cap="none" strike="noStrike">
              <a:solidFill>
                <a:srgbClr val="000000"/>
              </a:solidFill>
              <a:latin typeface="Arial"/>
              <a:ea typeface="Arial"/>
              <a:cs typeface="Arial"/>
              <a:sym typeface="Arial"/>
            </a:endParaRPr>
          </a:p>
        </p:txBody>
      </p:sp>
      <p:sp>
        <p:nvSpPr>
          <p:cNvPr id="154" name="Google Shape;154;p41"/>
          <p:cNvSpPr txBox="1"/>
          <p:nvPr/>
        </p:nvSpPr>
        <p:spPr>
          <a:xfrm>
            <a:off x="777240" y="1207008"/>
            <a:ext cx="11301900" cy="24627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lang="en-US"/>
              <a:t>• Agriculture-Focused Advisory System – Designed specifically for farming assistance.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Agent-Based Architecture – Uses an AI agent to process and respond to agricultural queries.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Modular LangFlow Workflow – Components can be extended with additional tools and knowledge sources.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IBM Granite Ready – Designed for future integration with IBM Granite models through WatsonX.</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User-Friendly Guidance – Generates practical recommendations understandable by farmers.</a:t>
            </a:r>
            <a:endParaRPr/>
          </a:p>
          <a:p>
            <a:pPr indent="0" lvl="0" marL="0" rtl="0" algn="l">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rgbClr val="000000"/>
              </a:buClr>
              <a:buSzPts val="1400"/>
              <a:buFont typeface="Arial"/>
              <a:buNone/>
            </a:pPr>
            <a:r>
              <a:rPr lang="en-US"/>
              <a:t>• Scalable Design – Can be extended with weather data, soil information, and crop databases.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42"/>
          <p:cNvSpPr/>
          <p:nvPr/>
        </p:nvSpPr>
        <p:spPr>
          <a:xfrm>
            <a:off x="1218724" y="420729"/>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051D3A"/>
              </a:buClr>
              <a:buSzPts val="3500"/>
              <a:buFont typeface="Times New Roman"/>
              <a:buNone/>
            </a:pPr>
            <a:r>
              <a:rPr b="1" i="0" lang="en-US" sz="2400" u="none" cap="none" strike="noStrike">
                <a:solidFill>
                  <a:srgbClr val="000000"/>
                </a:solidFill>
                <a:latin typeface="Arial"/>
                <a:ea typeface="Arial"/>
                <a:cs typeface="Arial"/>
                <a:sym typeface="Arial"/>
              </a:rPr>
              <a:t>Git Hub Link</a:t>
            </a:r>
            <a:endParaRPr b="1" i="0" sz="2400" u="none" cap="none" strike="noStrike">
              <a:solidFill>
                <a:srgbClr val="000000"/>
              </a:solidFill>
              <a:latin typeface="Arial"/>
              <a:ea typeface="Arial"/>
              <a:cs typeface="Arial"/>
              <a:sym typeface="Arial"/>
            </a:endParaRPr>
          </a:p>
        </p:txBody>
      </p:sp>
      <p:sp>
        <p:nvSpPr>
          <p:cNvPr id="160" name="Google Shape;160;p42"/>
          <p:cNvSpPr/>
          <p:nvPr/>
        </p:nvSpPr>
        <p:spPr>
          <a:xfrm>
            <a:off x="1218724" y="1153712"/>
            <a:ext cx="9214580" cy="4277001"/>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lang="en-US" sz="1850">
                <a:solidFill>
                  <a:srgbClr val="2B3541"/>
                </a:solidFill>
                <a:latin typeface="Times New Roman"/>
                <a:ea typeface="Times New Roman"/>
                <a:cs typeface="Times New Roman"/>
                <a:sym typeface="Times New Roman"/>
              </a:rPr>
              <a:t>https://github.com/niyatibuch/smart-farming-advisor-langflow</a:t>
            </a:r>
            <a:endParaRPr b="0" i="0" sz="185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43"/>
          <p:cNvSpPr/>
          <p:nvPr/>
        </p:nvSpPr>
        <p:spPr>
          <a:xfrm>
            <a:off x="1218724" y="420729"/>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051D3A"/>
              </a:buClr>
              <a:buSzPts val="3500"/>
              <a:buFont typeface="Times New Roman"/>
              <a:buNone/>
            </a:pPr>
            <a:r>
              <a:rPr b="1" i="0" lang="en-US" sz="2400" u="none" cap="none" strike="noStrike">
                <a:solidFill>
                  <a:srgbClr val="000000"/>
                </a:solidFill>
                <a:latin typeface="Arial"/>
                <a:ea typeface="Arial"/>
                <a:cs typeface="Arial"/>
                <a:sym typeface="Arial"/>
              </a:rPr>
              <a:t>Future Scope </a:t>
            </a:r>
            <a:endParaRPr b="1" i="0" sz="2400" u="none" cap="none" strike="noStrike">
              <a:solidFill>
                <a:srgbClr val="000000"/>
              </a:solidFill>
              <a:latin typeface="Arial"/>
              <a:ea typeface="Arial"/>
              <a:cs typeface="Arial"/>
              <a:sym typeface="Arial"/>
            </a:endParaRPr>
          </a:p>
        </p:txBody>
      </p:sp>
      <p:sp>
        <p:nvSpPr>
          <p:cNvPr id="166" name="Google Shape;166;p43"/>
          <p:cNvSpPr txBox="1"/>
          <p:nvPr/>
        </p:nvSpPr>
        <p:spPr>
          <a:xfrm>
            <a:off x="540775" y="934075"/>
            <a:ext cx="10754100" cy="4279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1. Weather Data Integration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system can integrate real-time weather information to provide more accurate irrigation and crop management recommendations.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2. Crop Disease Detection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Image-based disease identification can be incorporated using computer vision models to assist farmers in diagnosing crop problems.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3. Regional Language Support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Support for multiple regional languages can improve accessibility for farmers across different regions.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4. IBM Granite Integration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Future deployment with IBM Granite models through WatsonX will enhance reasoning capability and recommendation quality.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5. Agricultural Knowledge Base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Integration with agricultural databases and government advisory systems can improve recommendation accuracy.</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20"/>
          <p:cNvPicPr preferRelativeResize="0"/>
          <p:nvPr/>
        </p:nvPicPr>
        <p:blipFill rotWithShape="1">
          <a:blip r:embed="rId3">
            <a:alphaModFix/>
          </a:blip>
          <a:srcRect b="0" l="0" r="0" t="0"/>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2025-07-08T05:06:56Z</dcterms:created>
  <dc:creator>Manda Anirudh</dc:creator>
</cp:coreProperties>
</file>